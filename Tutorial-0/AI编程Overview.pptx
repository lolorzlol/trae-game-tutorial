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大家好，欢迎来到今天的课程——Vibe/Agentic Coding入门与实战。在这个AI飞速发展的时代，掌握AI辅助编程的能力变得至关重要。本课程将带大家了解如何利用AI工具提升开发效率，并掌握核心的AI配置技能，这些技能不仅能应用于编程，还能适配动画、数媒等多个领域，最终成为大家在求职和未来发展中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那么，我们为什么要学习Vibe/Agentic Coding呢？首先，它具有极强的跨场景适用性，无论是动画、数媒还是开发专业，都能找到应用场景。其次，它能显著提升我们的工作效率，将我们从繁琐重复的任务中解放出来，专注于更有创造性的工作。最后，掌握这项技能在求职市场上是一个巨大的加分项，能让你在众多竞争者中脱颖而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课程将分为四周进行。第一周，我们会从Trae这个核心工具的基本使用开始，让大家快速上手。第二周，我们将学习AGENT和skill的组合使用，这是实现AI辅助的核心能力。第三周，我们会探索mcp和插件，扩展AI的功能边界。最后一周，我们会介绍敏捷开发的理念，将AI辅助开发融入到规范的工程化流程中。请大家记住，我们的核心原则是理解概念而非机械操作，最终目标是让大家能够独立配置自己的专属AI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市面上有很多AI编码工具，我们该如何选择呢？我们的原则是优先选择有免费模型的工具，其次考虑功能的易用性。这张表格对比了主流的几款工具，包括Trae、Qwen Code、Opencode和Claude。大家可以看到它们各自的优缺点。对于我们的入门学习，我强烈推荐大家使用Trae，它不仅免费模型多、性能强，而且非常容易上手，能帮助我们快速建立信心。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能够低成本地开始学习，这里为大家整理了一些可以获得免费额度的平台。比如阿里百炼、硅基流动、智谱和Minimax，它们都为新用户提供了免费的使用额度，有些甚至提供了永久免费的小模型。建议大家课后就去领取这些额度，动手尝试一下，完成工具的首次上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课程中，我们将以Unity作为核心的实践载体。为什么选择Unity呢？首先，从行业应用来看，在小团队和独立游戏开发领域，Unity的普及度非常高。其次，从技术门槛考虑，如果选择UE，我们需要额外学习UE的C++，而蓝图又几乎无法与AI结合，这会大大增加学习难度。最后，我们课程的核心内容，除了个别特定功能外，与使用什么引擎关系不大，选择Unity可以让我们更快地聚焦于AI辅助开发本身，降低入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课程中，我们将以Unity作为核心的实践载体。为什么选择Unity呢？首先，从行业应用来看，在小团队和独立游戏开发领域，Unity的普及度非常高。其次，从技术门槛考虑，如果选择UE，我们需要额外学习UE的C++，而蓝图又几乎无法与AI结合，这会大大增加学习难度。最后，我们课程的核心内容，除了个别特定功能外，与使用什么引擎关系不大，选择Unity可以让我们更快地聚焦于AI辅助开发本身，降低入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image" Target="../media/image10.svg"/><Relationship Id="rId21" Type="http://schemas.openxmlformats.org/officeDocument/2006/relationships/image" Target="../media/image9.png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20.svg"/><Relationship Id="rId21" Type="http://schemas.openxmlformats.org/officeDocument/2006/relationships/image" Target="../media/image19.png"/><Relationship Id="rId20" Type="http://schemas.openxmlformats.org/officeDocument/2006/relationships/tags" Target="../tags/tag30.xml"/><Relationship Id="rId2" Type="http://schemas.openxmlformats.org/officeDocument/2006/relationships/tags" Target="../tags/tag20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32.svg"/><Relationship Id="rId21" Type="http://schemas.openxmlformats.org/officeDocument/2006/relationships/image" Target="../media/image31.png"/><Relationship Id="rId20" Type="http://schemas.openxmlformats.org/officeDocument/2006/relationships/tags" Target="../tags/tag42.xml"/><Relationship Id="rId2" Type="http://schemas.openxmlformats.org/officeDocument/2006/relationships/tags" Target="../tags/tag32.xml"/><Relationship Id="rId19" Type="http://schemas.openxmlformats.org/officeDocument/2006/relationships/image" Target="../media/image30.svg"/><Relationship Id="rId18" Type="http://schemas.openxmlformats.org/officeDocument/2006/relationships/image" Target="../media/image29.png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45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4.xml"/><Relationship Id="rId19" Type="http://schemas.openxmlformats.org/officeDocument/2006/relationships/image" Target="../media/image38.svg"/><Relationship Id="rId18" Type="http://schemas.openxmlformats.org/officeDocument/2006/relationships/image" Target="../media/image37.png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tags" Target="../tags/tag50.xml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635000" y="177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17188">
            <a:off x="4826016" y="2660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556000" y="4445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467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91000" y="463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 + 数媒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93C5F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为什么学AI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905000" y="1968500"/>
            <a:ext cx="1016000" cy="1016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889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跨场景适用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52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不止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写代码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，数媒动画都值得学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5588000" y="1968500"/>
            <a:ext cx="1016000" cy="1016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72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4635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提高开发效率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9271000" y="1968500"/>
            <a:ext cx="1016000" cy="1016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255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面试加分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8318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写进简历，面试会有加分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63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四周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规划（可能有调整）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270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113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574800" y="1524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第一周：Trae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试用</a:t>
            </a: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+git+AGENTS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762000" y="2286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2527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574800" y="25781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第二周： 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子代理</a:t>
            </a:r>
            <a:r>
              <a:rPr lang="en-US" altLang="zh-CN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+mcp+skill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62000" y="3302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543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574800" y="3556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第三周：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插件</a:t>
            </a:r>
            <a:r>
              <a:rPr lang="en-US" altLang="zh-CN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敏捷开发介绍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62000" y="4318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559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1574800" y="45593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第四周：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实操</a:t>
            </a:r>
            <a:r>
              <a:rPr lang="en-US" altLang="zh-CN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各种问题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7023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74800" y="5613400"/>
            <a:ext cx="952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概念理解＞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实际操作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，最终目标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独立配置专属AI工具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3787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AI编码工具选型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270000"/>
          <a:ext cx="10414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181475"/>
                <a:gridCol w="4200525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主要局限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Trae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免费模型多、强度高、上手快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不支持插件扩展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Qwen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1个免费模型、不限速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无插件支持，mcp/网络搜索受限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Opencode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支持插件、mcp协议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免费模型稳定性较差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Claude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功能体验最佳，上下文理解强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无任何免费模型，成本较高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31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63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4635500"/>
            <a:ext cx="90297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原则：必须优先考虑免费模型，其实才是好用。</a:t>
            </a: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虽然还可以选</a:t>
            </a:r>
            <a:r>
              <a:rPr lang="en-US" altLang="zh-CN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Ollama</a:t>
            </a: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本地自建模型，但是模型比较弱。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最终还是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因为免费、模型强度高且容易上手。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免费额度体验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7145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阿里百炼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62865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209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0"/>
            </p:custDataLst>
          </p:nvPr>
        </p:nvSpPr>
        <p:spPr>
          <a:xfrm>
            <a:off x="72390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硅基流动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 + 9B以下小模型永久免费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7620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5"/>
            </p:custDataLst>
          </p:nvPr>
        </p:nvSpPr>
        <p:spPr>
          <a:xfrm>
            <a:off x="17145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智谱 AI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新用户额度充足（优先体验GLM-5）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62865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40500" y="349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0"/>
            </p:custDataLst>
          </p:nvPr>
        </p:nvSpPr>
        <p:spPr>
          <a:xfrm>
            <a:off x="72390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Minimax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5E7EB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016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826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如果想用没有免费模型的工具，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可以去这些平台领取免费额度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先试用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702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为什么选择Unity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为主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2095500" y="2387600"/>
            <a:ext cx="635000" cy="635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7100" y="2489200"/>
            <a:ext cx="431800" cy="431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889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适合独立游戏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在小团队和独立游戏开发中，Unity的使用占比远高于UE，生态更成熟。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5778500" y="2387600"/>
            <a:ext cx="635000" cy="635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100" y="2489200"/>
            <a:ext cx="431800" cy="431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572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背景下</a:t>
            </a: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蓝图没啥用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35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无法也无需生成蓝图。用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 C++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或者其他脚本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才好用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直接生成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9461500" y="2387600"/>
            <a:ext cx="635000" cy="635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63100" y="2489200"/>
            <a:ext cx="431800" cy="431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255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使用上差别不大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18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使用上主要区别是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和测试框架。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702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内容基于</a:t>
            </a:r>
            <a:r>
              <a:rPr lang="en-US" altLang="zh-CN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2000" y="1392555"/>
            <a:ext cx="842264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https://github.com/lolorzlol/MADAO-GameCodingAssistant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ea typeface="宋体" panose="02010600030101010101" pitchFamily="2" charset="-122"/>
              </a:rPr>
              <a:t>包含</a:t>
            </a:r>
            <a:r>
              <a:rPr lang="en-US" altLang="zh-CN" sz="1600">
                <a:ea typeface="宋体" panose="02010600030101010101" pitchFamily="2" charset="-122"/>
              </a:rPr>
              <a:t>ppt</a:t>
            </a:r>
            <a:r>
              <a:rPr lang="zh-CN" altLang="en-US" sz="1600">
                <a:ea typeface="宋体" panose="02010600030101010101" pitchFamily="2" charset="-122"/>
              </a:rPr>
              <a:t>，文档等所有资料。</a:t>
            </a:r>
            <a:endParaRPr lang="en-US" altLang="zh-CN" sz="1600"/>
          </a:p>
          <a:p>
            <a:endParaRPr lang="en-US" altLang="zh-CN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1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2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3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4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5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6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7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8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3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4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5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6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7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4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5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6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7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8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9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0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1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2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3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4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5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6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7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WPS 演示</Application>
  <PresentationFormat/>
  <Paragraphs>104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landscape</cp:lastModifiedBy>
  <cp:revision>102</cp:revision>
  <dcterms:created xsi:type="dcterms:W3CDTF">2026-03-14T07:38:00Z</dcterms:created>
  <dcterms:modified xsi:type="dcterms:W3CDTF">2026-03-20T00:10:38Z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3B2D4A994DD9490C8471862C4C95C111_12</vt:lpwstr>
  </property>
  <property fmtid="{D5CDD505-2E9C-101B-9397-08002B2CF9AE}" pid="3" name="KSOProductBuildVer">
    <vt:lpwstr>2052-12.1.0.25225</vt:lpwstr>
  </property>
</Properties>
</file>