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50.svg" ContentType="image/svg+xml"/>
  <Override PartName="/ppt/media/image52.svg" ContentType="image/svg+xml"/>
  <Override PartName="/ppt/media/image57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大家好，欢迎参加本次Trae基础使用教学。今天，我们将一起探索这款由AI驱动的新一代开发工具，看看它如何改变我们的编程体验，开启全新的AI开发纪元。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教学将分为四个部分。首先，我们会简要介绍Trae是什么，它的核心价值在哪里。接着，我们将深入讲解Trae的三大核心开发模式：Chat、Builder和Solo模式。之后，会介绍其高级特性——多智能体协同架构。最后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首先，让我们进入第一部分，了解一下Trae到底是什么，它将如何开启AI开发的新纪元。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Trae究竟是什么？简单来说，它是一款由AI驱动的集成开发环境，也就是我们常说的IDE。但它又不止于此，Trae将传统的工具集合升级成了一个AI团队协作平台，其核心目标就是通过强大的AI辅助能力，极大地提升我们开发者的编程效率和整体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接下来，我们进入核心部分，详细了解Trae提供的三种强大的开发模式：Chat模式、Builder模式和Solo模式。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个整体的概览。Trae提供了两种主要的开发模式：一种是IDE模式，包括Chat和Builder两种子模式，在这种模式下，开发者仍然掌控着关键流程，AI提供辅助；另一种是Solo模式，在这种模式下，AI可以作为自主开发代理，独立完成从需求到部署的全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我们先来看Chat模式，它主要用于智能问答辅助。非常适合日常的编码工作，比如你需要解释一段代码的含义，或者遇到了一个棘手的Bug需要修复，都可以通过Chat模式向AI求助。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接下来是Builder模式，它的核心是项目自动生成。当你需要从零开始创建一个新项目，或者快速制作一个原型时，Builder模式会非常高效。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uilder模式的核心能力在于，你只需要用自然语言描述你的需求，AI就能自动为你生成完整的项目结构，包括代码文件、依赖清单等。它还能自动安装依赖、配置环境，并支持通过对话进行迭代优化，让你的想法快速落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的操作流程也很直观。首先，点击右侧的Builder标签，然后输入你的需求描述，比如“创建一个Python贪吃蛇游戏”。AI会立刻开始生成项目文件，生成完成后，你只需点击“运行”按钮，它就会自动安装依赖并启动项目。之后，你还可以通过对话不断优化你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第三种模式是Solo模式，这是一种更高级的自主开发代理模式。它适用于需要AI独立完成从需求分析到最终部署的全流程开发场景，特别适合处理一些复杂的项目。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olo模式的核心特点就是高度的自主性。AI在这里扮演一个独立的开发代理角色，能够自己完成需求分析、代码编写、测试、部署等一系列复杂任务。这使得开发者可以从繁琐的细节中解放出来，专注于更宏观的设计和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清晰地理解这三种模式的区别，这里有一个对比表格。从控制者、适用场景和核心优势三个维度进行了比较。简单来说，IDE模式更强调人机协作，适合日常开发；而Solo模式则更强调AI的自主性，适合需要高度自动化的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了解了核心模式之后，我们再来看看Trae的一个高级特性——多智能体协同架构，这也是它强大能力的来源。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rae的底层采用了多智能体协同架构。当你提出一个需求后，主代理会先进行任务分析和拆解，然后将不同的子任务分配给不同的专业子代理，比如负责代码生成的、负责代码审查的、负责测试的等等。这些子代理协同工作，最终整合结果反馈给你，从而实现高效、专业的开发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最后，我们对本次教学内容进行一个简单的总结，并对Trae的未来做一个展望。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Trae不仅仅是一个传统的IDE，它通过Chat、Builder、Solo三种灵活的模式，以及强大的多智能体协同架构，为我们提供了前所未有的AI开发体验。它正在重新定义开发者与工具之间的关系，引领我们走向AI原生开发的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我的讲解到此结束，感谢大家的观看。接下来是问答环节，大家有任何问题都可以提出来。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jpe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jpe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7.jpe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8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svg"/><Relationship Id="rId8" Type="http://schemas.openxmlformats.org/officeDocument/2006/relationships/image" Target="../media/image40.png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4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5.jpe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svg"/><Relationship Id="rId2" Type="http://schemas.openxmlformats.org/officeDocument/2006/relationships/image" Target="../media/image46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3.svg"/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5.jpeg"/><Relationship Id="rId7" Type="http://schemas.openxmlformats.org/officeDocument/2006/relationships/image" Target="../media/image3.svg"/><Relationship Id="rId6" Type="http://schemas.openxmlformats.org/officeDocument/2006/relationships/image" Target="../media/image48.png"/><Relationship Id="rId5" Type="http://schemas.openxmlformats.org/officeDocument/2006/relationships/image" Target="../media/image8.svg"/><Relationship Id="rId4" Type="http://schemas.openxmlformats.org/officeDocument/2006/relationships/image" Target="../media/image54.png"/><Relationship Id="rId3" Type="http://schemas.openxmlformats.org/officeDocument/2006/relationships/image" Target="../media/image6.svg"/><Relationship Id="rId2" Type="http://schemas.openxmlformats.org/officeDocument/2006/relationships/image" Target="../media/image53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8.png"/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651000"/>
            <a:ext cx="609600" cy="609600"/>
          </a:xfrm>
          <a:prstGeom prst="rect">
            <a:avLst/>
          </a:prstGeom>
          <a:effectLst>
            <a:outerShdw blurRad="127000" dir="2700000" algn="tl" rotWithShape="0">
              <a:srgbClr val="64FFDA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Trae基础使用教学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29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AI驱动的新一代开发体验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 AI 开发新纪元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| 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762032" y="1390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810000" y="1651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0" y="1955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635500" y="1778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Trae简介：开启AI开发新纪元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 Trae 的核心价值与技术愿景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10000" y="2794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4000" y="3098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35500" y="2921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核心模式详解：Chat、Builder、Solo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深入解析三大核心开发模式的应用场景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810000" y="3937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4000" y="4241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35500" y="4064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高级特性：多智能体协同架构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揭秘多智能体协作的高效工作流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810000" y="5080000"/>
            <a:ext cx="685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4000" y="5384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635500" y="5207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回顾关键知识点，展望未来发展方向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756150" y="1651000"/>
            <a:ext cx="26797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3416300" y="3429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Trae简介：开启AI开发新纪元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什么是Trae？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905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驱动的集成开发环境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 不仅仅是工具，更是由人工智能深度赋能的新一代编程平台。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3238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团队协作平台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 IDE 边界，将个人工具升级为支持多人协同的智能工作空间。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762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4572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极致编程体验与效率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AI 辅助代码生成、调试与重构，显著降低开发门槛，提升产出效率。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l="172" r="172"/>
          <a:stretch>
            <a:fillRect/>
          </a:stretch>
        </p:blipFill>
        <p:spPr>
          <a:xfrm>
            <a:off x="7874000" y="1778000"/>
            <a:ext cx="3048000" cy="3225800"/>
          </a:xfrm>
          <a:prstGeom prst="roundRect">
            <a:avLst>
              <a:gd name="adj" fmla="val 8333"/>
            </a:avLst>
          </a:prstGeom>
          <a:noFill/>
          <a:ln w="25400" cap="flat" cmpd="sng">
            <a:solidFill>
              <a:srgbClr val="64FFDA">
                <a:alpha val="4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7874000" y="520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与代码的深度融合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826000" y="1651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64FFDA"/>
                </a:solidFill>
                <a:latin typeface="DIN Alternate"/>
                <a:ea typeface="DIN Alternate"/>
                <a:cs typeface="DIN Alternate"/>
                <a:sym typeface="DIN Alternate"/>
              </a:rPr>
              <a:t>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核心模式详解：Chat、Builder、Solo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444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 DEVELOPMENT MODES OVERVIEW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Trae双重开发模式概览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556000" cy="2959100"/>
          </a:xfrm>
          <a:prstGeom prst="roundRect">
            <a:avLst>
              <a:gd name="adj" fmla="val 429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05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 模式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开发者掌控流程，AI提供智能辅助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包含子模式：</a:t>
            </a:r>
            <a:endParaRPr lang="en-US" sz="1400" b="1" i="0" u="none" strike="noStrike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Chat模式：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交互式对话协作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可视化构建开发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207" r="207"/>
          <a:stretch>
            <a:fillRect/>
          </a:stretch>
        </p:blipFill>
        <p:spPr>
          <a:xfrm>
            <a:off x="4699000" y="1651000"/>
            <a:ext cx="2794000" cy="2959100"/>
          </a:xfrm>
          <a:prstGeom prst="roundRect">
            <a:avLst>
              <a:gd name="adj" fmla="val 4545"/>
            </a:avLst>
          </a:prstGeom>
          <a:noFill/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7874000" y="1651000"/>
            <a:ext cx="3556000" cy="2959100"/>
          </a:xfrm>
          <a:prstGeom prst="roundRect">
            <a:avLst>
              <a:gd name="adj" fmla="val 429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190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636000" y="1905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Solo 模式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413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AI作为自主开发代理，独立闭环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关键特性：</a:t>
            </a:r>
            <a:endParaRPr lang="en-US" sz="1400" b="1" i="0" u="none" strike="noStrike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全流程自主：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从需求到部署自动完成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2E8F0"/>
              </a:buClr>
              <a:buChar char="•"/>
            </a:pPr>
            <a:r>
              <a:rPr lang="en-US" sz="1400" b="1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高自由度：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无需人工干预的智能迭代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507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2000" y="533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灵活切换开发模式，实现</a:t>
            </a: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人机协作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AI自主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的高效平衡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53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Chat模式：智能问答辅助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适用场景：日常编码辅助、代码解释、Bug修复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0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1879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日常编码辅助与提示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4000" y="190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445000" y="1879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复杂代码逻辑解释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6000" y="190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747000" y="1879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程序错误定位与修复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rcRect l="195" r="195"/>
          <a:stretch>
            <a:fillRect/>
          </a:stretch>
        </p:blipFill>
        <p:spPr>
          <a:xfrm>
            <a:off x="5016500" y="2667000"/>
            <a:ext cx="2159000" cy="2286000"/>
          </a:xfrm>
          <a:prstGeom prst="roundRect">
            <a:avLst>
              <a:gd name="adj" fmla="val 5882"/>
            </a:avLst>
          </a:prstGeom>
          <a:noFill/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762000" y="520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图示：开发者通过Chat模式与AI实时交互解决编程问题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23431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Builder模式：项目自动生成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适用场景：从零创建项目、快速原型开发，高效构建标准化项目结构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898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99000" y="2286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2286000" y="520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图示：从需求指令快速生成标准化的项目文件结构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609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668000" y="609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Builder模式核心能力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651000"/>
            <a:ext cx="3048000" cy="3048000"/>
          </a:xfrm>
          <a:prstGeom prst="roundRect">
            <a:avLst>
              <a:gd name="adj" fmla="val 4166"/>
            </a:avLst>
          </a:prstGeom>
          <a:noFill/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2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826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Builder模式自动化流程示意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1651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55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43500" y="1778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智能生成项目结构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输入自然语言需求，AI自动生成完整的项目代码与架构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2794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098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43500" y="2921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环境自动配置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自动识别并安装依赖包，一键完成开发环境配置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0" y="3937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4241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4064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对话式迭代优化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通过自然语言对话持续迭代，快速调整项目细节</a:t>
            </a: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让开发更高效，让创意快速落地 —— AI驱动的自动化构建体验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Builder模式操作流程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01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51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点击右侧「Builder」标签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13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590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540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输入需求描述（如"创建 Python 贪吃蛇游戏"）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302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479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429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AI生成代码文件、依赖清单、资源文件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368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318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点击「运行」自动安装依赖并启动项目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257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20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对话迭代优化，持续完善项目细节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Solo模式：自主开发代理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适用场景：全流程自主开发、复杂项目实现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762032" y="2025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26000" y="2413000"/>
            <a:ext cx="2540000" cy="2540000"/>
          </a:xfrm>
          <a:prstGeom prst="roundRect">
            <a:avLst>
              <a:gd name="adj" fmla="val 10000"/>
            </a:avLst>
          </a:prstGeom>
          <a:noFill/>
          <a:ln w="254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2286000" y="520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自主构建复杂项目结构示意图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Solo模式核心特点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87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AI作为自主开发代理，独立完成从需求分析到部署的全流程，是适合开发者完全放手让AI主导的高效模式。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99000" y="2413000"/>
            <a:ext cx="2794000" cy="2794000"/>
          </a:xfrm>
          <a:prstGeom prst="roundRect">
            <a:avLst>
              <a:gd name="adj" fmla="val 909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r="27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762000" y="546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代码编写</a:t>
            </a: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</a:t>
            </a: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自动部署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三种开发模式对比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778000"/>
          <a:ext cx="10668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318000"/>
                <a:gridCol w="4318000"/>
              </a:tblGrid>
              <a:tr h="635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IDE模式 (Chat/Builder)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Solo模式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FFDA">
                        <a:alpha val="20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控制者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开发者控制关键流程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AI自主完成全流程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日常开发迭代、快速原型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全流程开发、复杂项目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核心优势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实时建议、人机协作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高度自动化、解放开发者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596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5969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DEVELOPMENT COMPARISON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419600" y="1651000"/>
            <a:ext cx="3352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355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959100" y="3810000"/>
            <a:ext cx="6261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高级特性：多智能体协同架构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71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ADVANCED FEATURES: MULTI-AGENT COLLABORATION ARCHITECTURE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多智能体协同架构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778000"/>
            <a:ext cx="3048000" cy="3048000"/>
          </a:xfrm>
          <a:prstGeom prst="roundRect">
            <a:avLst>
              <a:gd name="adj" fmla="val 6250"/>
            </a:avLst>
          </a:prstGeom>
          <a:noFill/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64FFDA">
                <a:alpha val="2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191000" y="1778000"/>
            <a:ext cx="6858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1717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207000" y="1968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主代理 (Main Agent)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207000" y="2349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系统的核心大脑，负责接收需求、进行任务拆解与分析，并根据子代理的能力进行合理的任务分配与全局协调。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91000" y="3429000"/>
            <a:ext cx="6858000" cy="1397000"/>
          </a:xfrm>
          <a:prstGeom prst="roundRect">
            <a:avLst>
              <a:gd name="adj" fmla="val 909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64FFD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38227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3619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子代理 (Sub Agents)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4000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专业领域的执行单元，包含代码生成、代码审查、测试执行、Bug修复等角色，通过协同工作高效完成各项子任务。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2000" y="558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 底层架构：通过主从协同模式，实现从需求分析到结果交付的全链路自动化闭环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419600" y="1397000"/>
            <a:ext cx="3352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64FFD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978400" y="35560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spc="40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总结与展望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200">
                <a:solidFill>
                  <a:srgbClr val="64FFDA">
                    <a:alpha val="6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SUMMARY AND OUTLOOK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4445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总结：Trae，不止于IDE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灵活多元的开发模式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84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 Chat、Builder、Solo 三种模式，精准匹配不同开发场景需求。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984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136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多智能体协同架构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5179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构建高效AI开发核心，实现智能体间的无缝协作与任务分配。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AI原生开发的未来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4851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重新定义开发者与工具的关系，引领下一代软件开发范式。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112000" y="1778000"/>
            <a:ext cx="3048000" cy="3048000"/>
          </a:xfrm>
          <a:prstGeom prst="roundRect">
            <a:avLst>
              <a:gd name="adj" fmla="val 8333"/>
            </a:avLst>
          </a:prstGeom>
          <a:noFill/>
          <a:ln w="254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64FFDA">
                <a:alpha val="30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7112000" y="495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核心功能模式概览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互动环节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393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571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 | 2024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WPS 演示</Application>
  <PresentationFormat/>
  <Paragraphs>192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DIN Alternate</vt:lpstr>
      <vt:lpstr>Segoe Print</vt:lpstr>
      <vt:lpstr>黑体</vt:lpstr>
      <vt:lpstr>微软雅黑</vt:lpstr>
      <vt:lpstr>Arial Unicode MS</vt:lpstr>
      <vt:lpstr>DIN Alternate</vt:lpstr>
      <vt:lpstr>DIN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landscape</cp:lastModifiedBy>
  <cp:revision>2</cp:revision>
  <dcterms:created xsi:type="dcterms:W3CDTF">2026-03-17T05:34:00Z</dcterms:created>
  <dcterms:modified xsi:type="dcterms:W3CDTF">2026-03-19T22:55:54Z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9EEED1A1C23C4C17B4397FC62E546FB9_12</vt:lpwstr>
  </property>
  <property fmtid="{D5CDD505-2E9C-101B-9397-08002B2CF9AE}" pid="3" name="KSOProductBuildVer">
    <vt:lpwstr>2052-12.1.0.25225</vt:lpwstr>
  </property>
</Properties>
</file>